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GemmaCaption: an all-Gemma pipeline that captions a video in four styles and fact-checks every witty caption against the frames.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styles, same scene. Scored on accuracy and style match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Frames fan out to three parallel Gemma steps, then a description-grounded selector picks the best witty caption. Every model call is Gemma.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gold personas are the biggest quality lever — detailed register contracts, not one-word labels.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Generation is untouched; the description only drives selection. Best-of-N gives the alternatives so the gate can pick a clean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Guards regenerate at most once; the fallback chain guarantees a complete results.json.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Perception, writing, scene description, and selection all run on Gemma — a pure Gemma showcase.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Real GemmaCaption outputs for one office clip — same scene, four unmistakable voices.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self-contained container: read tasks.json, write results.json.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Thanks! GemmaCaption — all-Gemma, best-of-N with description-grounded selection.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1E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1234440"/>
            <a:ext cx="1783080" cy="420624"/>
          </a:xfrm>
          <a:prstGeom prst="roundRect">
            <a:avLst>
              <a:gd name="adj" fmla="val 50000"/>
            </a:avLst>
          </a:prstGeom>
          <a:solidFill>
            <a:srgbClr val="E88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216152"/>
            <a:ext cx="1783080" cy="420624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100% GEMMA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65960"/>
            <a:ext cx="10515600" cy="11887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5800" b="1" i="0">
                <a:solidFill>
                  <a:srgbClr val="FFFFFF"/>
                </a:solidFill>
                <a:latin typeface="Calibri"/>
              </a:rPr>
              <a:t>GemmaCaption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3200400"/>
            <a:ext cx="10515600" cy="5486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2500" b="0" i="0">
                <a:solidFill>
                  <a:srgbClr val="C6C1F0"/>
                </a:solidFill>
                <a:latin typeface="Calibri"/>
              </a:rPr>
              <a:t>Multi-Style Video Captioning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3886200"/>
            <a:ext cx="10241280" cy="5486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500" b="0" i="1">
                <a:solidFill>
                  <a:srgbClr val="9C97CC"/>
                </a:solidFill>
                <a:latin typeface="Calibri"/>
              </a:rPr>
              <a:t>Four voices for one video — every caption fact-checked against the frames.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709160"/>
            <a:ext cx="1234440" cy="402336"/>
          </a:xfrm>
          <a:prstGeom prst="roundRect">
            <a:avLst>
              <a:gd name="adj" fmla="val 50000"/>
            </a:avLst>
          </a:prstGeom>
          <a:solidFill>
            <a:srgbClr val="EEF1F6"/>
          </a:solidFill>
          <a:ln w="12700">
            <a:solidFill>
              <a:srgbClr val="CBD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690872"/>
            <a:ext cx="1234440" cy="402336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/>
            <a:r>
              <a:rPr sz="1250" b="1" i="0">
                <a:solidFill>
                  <a:srgbClr val="37507A"/>
                </a:solidFill>
                <a:latin typeface="Calibri"/>
              </a:rPr>
              <a:t>formal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21992" y="4709160"/>
            <a:ext cx="1554480" cy="402336"/>
          </a:xfrm>
          <a:prstGeom prst="roundRect">
            <a:avLst>
              <a:gd name="adj" fmla="val 50000"/>
            </a:avLst>
          </a:prstGeom>
          <a:solidFill>
            <a:srgbClr val="F3EFFC"/>
          </a:solidFill>
          <a:ln w="12700">
            <a:solidFill>
              <a:srgbClr val="D6C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21992" y="4690872"/>
            <a:ext cx="1554480" cy="402336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/>
            <a:r>
              <a:rPr sz="1250" b="1" i="0">
                <a:solidFill>
                  <a:srgbClr val="5B3E9E"/>
                </a:solidFill>
                <a:latin typeface="Calibri"/>
              </a:rPr>
              <a:t>sarcastic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32504" y="4709160"/>
            <a:ext cx="2148840" cy="402336"/>
          </a:xfrm>
          <a:prstGeom prst="roundRect">
            <a:avLst>
              <a:gd name="adj" fmla="val 50000"/>
            </a:avLst>
          </a:prstGeom>
          <a:solidFill>
            <a:srgbClr val="EAF3FE"/>
          </a:solidFill>
          <a:ln w="12700">
            <a:solidFill>
              <a:srgbClr val="C4D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32504" y="4690872"/>
            <a:ext cx="2148840" cy="402336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/>
            <a:r>
              <a:rPr sz="1250" b="1" i="0">
                <a:solidFill>
                  <a:srgbClr val="1F5FA5"/>
                </a:solidFill>
                <a:latin typeface="Calibri"/>
              </a:rPr>
              <a:t>humorous_tech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37376" y="4709160"/>
            <a:ext cx="2697480" cy="402336"/>
          </a:xfrm>
          <a:prstGeom prst="roundRect">
            <a:avLst>
              <a:gd name="adj" fmla="val 50000"/>
            </a:avLst>
          </a:prstGeom>
          <a:solidFill>
            <a:srgbClr val="FEF1E6"/>
          </a:solidFill>
          <a:ln w="12700">
            <a:solidFill>
              <a:srgbClr val="F5D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7376" y="4690872"/>
            <a:ext cx="2697480" cy="402336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/>
            <a:r>
              <a:rPr sz="1250" b="1" i="0">
                <a:solidFill>
                  <a:srgbClr val="B45E17"/>
                </a:solidFill>
                <a:latin typeface="Calibri"/>
              </a:rPr>
              <a:t>humorous_non_tech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" y="6126480"/>
            <a:ext cx="10515600" cy="3657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300" b="0" i="0">
                <a:solidFill>
                  <a:srgbClr val="9C97CC"/>
                </a:solidFill>
                <a:latin typeface="Calibri"/>
              </a:rPr>
              <a:t>AMD Developer Hackathon  ·  Track 2 — Video Captioning  ·  Best Use of Gemma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300" b="1" i="0">
                <a:solidFill>
                  <a:srgbClr val="4A3F9E"/>
                </a:solidFill>
                <a:latin typeface="Calibri"/>
              </a:rPr>
              <a:t>THE TASK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49808"/>
            <a:ext cx="10881360" cy="7772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3300" b="1" i="0">
                <a:solidFill>
                  <a:srgbClr val="23204D"/>
                </a:solidFill>
                <a:latin typeface="Calibri"/>
              </a:rPr>
              <a:t>Four voices, one video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83080"/>
            <a:ext cx="4709160" cy="32918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23204D"/>
                </a:solidFill>
                <a:latin typeface="Calibri"/>
              </a:rPr>
              <a:t>For every clip, GemmaCaption writes four captions of the SAME scene — each in a distinct voice.</a:t>
            </a:r>
          </a:p>
          <a:p>
            <a:pPr algn="l">
              <a:spcAft>
                <a:spcPts val="1400"/>
              </a:spcAft>
            </a:pPr>
            <a:r>
              <a:rPr sz="1600" b="0" i="0">
                <a:solidFill>
                  <a:srgbClr val="23204D"/>
                </a:solidFill>
                <a:latin typeface="Calibri"/>
              </a:rPr>
              <a:t>The judge scores exactly two things:</a:t>
            </a:r>
          </a:p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3C3489"/>
                </a:solidFill>
                <a:latin typeface="Calibri"/>
              </a:rPr>
              <a:t>Accuracy  </a:t>
            </a:r>
            <a:r>
              <a:rPr sz="1600" b="0" i="0">
                <a:solidFill>
                  <a:srgbClr val="6E6A93"/>
                </a:solidFill>
                <a:latin typeface="Calibri"/>
              </a:rPr>
              <a:t>— faithful to what is on screen.</a:t>
            </a:r>
          </a:p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3C3489"/>
                </a:solidFill>
                <a:latin typeface="Calibri"/>
              </a:rPr>
              <a:t>Style match  </a:t>
            </a:r>
            <a:r>
              <a:rPr sz="1600" b="0" i="0">
                <a:solidFill>
                  <a:srgbClr val="6E6A93"/>
                </a:solidFill>
                <a:latin typeface="Calibri"/>
              </a:rPr>
              <a:t>— nails the requested tone.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0" y="1783080"/>
            <a:ext cx="2788920" cy="1874519"/>
          </a:xfrm>
          <a:prstGeom prst="roundRect">
            <a:avLst>
              <a:gd name="adj" fmla="val 9000"/>
            </a:avLst>
          </a:prstGeom>
          <a:solidFill>
            <a:srgbClr val="EEF1F6"/>
          </a:solidFill>
          <a:ln w="15875">
            <a:solidFill>
              <a:srgbClr val="CBD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0" y="1801368"/>
            <a:ext cx="2788920" cy="1874519"/>
          </a:xfrm>
          <a:prstGeom prst="rect">
            <a:avLst/>
          </a:prstGeom>
          <a:noFill/>
        </p:spPr>
        <p:txBody>
          <a:bodyPr wrap="square" anchor="t" lIns="164592" rIns="164592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550" b="1" i="0">
                <a:solidFill>
                  <a:srgbClr val="37507A"/>
                </a:solidFill>
                <a:latin typeface="Calibri"/>
              </a:rPr>
              <a:t>formal</a:t>
            </a:r>
          </a:p>
          <a:p>
            <a:pPr algn="l"/>
            <a:r>
              <a:rPr sz="1250" b="0" i="0">
                <a:solidFill>
                  <a:srgbClr val="6E6A93"/>
                </a:solidFill>
                <a:latin typeface="Calibri"/>
              </a:rPr>
              <a:t>Professional, factual news-wire tone.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42832" y="1783080"/>
            <a:ext cx="2788920" cy="1874519"/>
          </a:xfrm>
          <a:prstGeom prst="roundRect">
            <a:avLst>
              <a:gd name="adj" fmla="val 9000"/>
            </a:avLst>
          </a:prstGeom>
          <a:solidFill>
            <a:srgbClr val="F3EFFC"/>
          </a:solidFill>
          <a:ln w="15875">
            <a:solidFill>
              <a:srgbClr val="D6C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42832" y="1801368"/>
            <a:ext cx="2788920" cy="1874519"/>
          </a:xfrm>
          <a:prstGeom prst="rect">
            <a:avLst/>
          </a:prstGeom>
          <a:noFill/>
        </p:spPr>
        <p:txBody>
          <a:bodyPr wrap="square" anchor="t" lIns="164592" rIns="164592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550" b="1" i="0">
                <a:solidFill>
                  <a:srgbClr val="5B3E9E"/>
                </a:solidFill>
                <a:latin typeface="Calibri"/>
              </a:rPr>
              <a:t>sarcastic</a:t>
            </a:r>
          </a:p>
          <a:p>
            <a:pPr algn="l"/>
            <a:r>
              <a:rPr sz="1250" b="0" i="0">
                <a:solidFill>
                  <a:srgbClr val="6E6A93"/>
                </a:solidFill>
                <a:latin typeface="Calibri"/>
              </a:rPr>
              <a:t>Dry, deadpan, lightly mocking.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3913632"/>
            <a:ext cx="2788920" cy="1874519"/>
          </a:xfrm>
          <a:prstGeom prst="roundRect">
            <a:avLst>
              <a:gd name="adj" fmla="val 9000"/>
            </a:avLst>
          </a:prstGeom>
          <a:solidFill>
            <a:srgbClr val="EAF3FE"/>
          </a:solidFill>
          <a:ln w="15875">
            <a:solidFill>
              <a:srgbClr val="C4D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0" y="3931920"/>
            <a:ext cx="2788920" cy="1874519"/>
          </a:xfrm>
          <a:prstGeom prst="rect">
            <a:avLst/>
          </a:prstGeom>
          <a:noFill/>
        </p:spPr>
        <p:txBody>
          <a:bodyPr wrap="square" anchor="t" lIns="164592" rIns="164592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550" b="1" i="0">
                <a:solidFill>
                  <a:srgbClr val="1F5FA5"/>
                </a:solidFill>
                <a:latin typeface="Calibri"/>
              </a:rPr>
              <a:t>humorous_tech</a:t>
            </a:r>
          </a:p>
          <a:p>
            <a:pPr algn="l"/>
            <a:r>
              <a:rPr sz="1250" b="0" i="0">
                <a:solidFill>
                  <a:srgbClr val="6E6A93"/>
                </a:solidFill>
                <a:latin typeface="Calibri"/>
              </a:rPr>
              <a:t>Funny, with a software / dev metaphor.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42832" y="3913632"/>
            <a:ext cx="2788920" cy="1874519"/>
          </a:xfrm>
          <a:prstGeom prst="roundRect">
            <a:avLst>
              <a:gd name="adj" fmla="val 9000"/>
            </a:avLst>
          </a:prstGeom>
          <a:solidFill>
            <a:srgbClr val="FEF1E6"/>
          </a:solidFill>
          <a:ln w="15875">
            <a:solidFill>
              <a:srgbClr val="F5D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42832" y="3931920"/>
            <a:ext cx="2788920" cy="1874519"/>
          </a:xfrm>
          <a:prstGeom prst="rect">
            <a:avLst/>
          </a:prstGeom>
          <a:noFill/>
        </p:spPr>
        <p:txBody>
          <a:bodyPr wrap="square" anchor="t" lIns="164592" rIns="164592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550" b="1" i="0">
                <a:solidFill>
                  <a:srgbClr val="B45E17"/>
                </a:solidFill>
                <a:latin typeface="Calibri"/>
              </a:rPr>
              <a:t>humorous_non_tech</a:t>
            </a:r>
          </a:p>
          <a:p>
            <a:pPr algn="l"/>
            <a:r>
              <a:rPr sz="1250" b="0" i="0">
                <a:solidFill>
                  <a:srgbClr val="6E6A93"/>
                </a:solidFill>
                <a:latin typeface="Calibri"/>
              </a:rPr>
              <a:t>Everyday humor, zero tech words.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300" b="1" i="0">
                <a:solidFill>
                  <a:srgbClr val="4A3F9E"/>
                </a:solidFill>
                <a:latin typeface="Calibri"/>
              </a:rP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49808"/>
            <a:ext cx="10881360" cy="7772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3300" b="1" i="0">
                <a:solidFill>
                  <a:srgbClr val="23204D"/>
                </a:solidFill>
                <a:latin typeface="Calibri"/>
              </a:rPr>
              <a:t>An all-Gemma pipeline</a:t>
            </a:r>
          </a:p>
        </p:txBody>
      </p:sp>
      <p:pic>
        <p:nvPicPr>
          <p:cNvPr id="4" name="Picture 3" descr="gemmacaption_architecture_16x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5648" y="1572768"/>
            <a:ext cx="8686800" cy="48863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300" b="1" i="0">
                <a:solidFill>
                  <a:srgbClr val="4A3F9E"/>
                </a:solidFill>
                <a:latin typeface="Calibri"/>
              </a:rPr>
              <a:t>THE VOICES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49808"/>
            <a:ext cx="10881360" cy="7772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3300" b="1" i="0">
                <a:solidFill>
                  <a:srgbClr val="23204D"/>
                </a:solidFill>
                <a:latin typeface="Calibri"/>
              </a:rPr>
              <a:t>Four hand-tuned personas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5285232" cy="1965960"/>
          </a:xfrm>
          <a:prstGeom prst="roundRect">
            <a:avLst>
              <a:gd name="adj" fmla="val 9000"/>
            </a:avLst>
          </a:prstGeom>
          <a:solidFill>
            <a:srgbClr val="EEF1F6"/>
          </a:solidFill>
          <a:ln w="15875">
            <a:solidFill>
              <a:srgbClr val="CBD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10512"/>
            <a:ext cx="5285232" cy="1965960"/>
          </a:xfrm>
          <a:prstGeom prst="rect">
            <a:avLst/>
          </a:prstGeom>
          <a:noFill/>
        </p:spPr>
        <p:txBody>
          <a:bodyPr wrap="square" anchor="t" lIns="219456" rIns="219456" tIns="27432" bIns="27432">
            <a:spAutoFit/>
          </a:bodyPr>
          <a:lstStyle/>
          <a:p>
            <a:pPr algn="l">
              <a:spcAft>
                <a:spcPts val="700"/>
              </a:spcAft>
            </a:pPr>
            <a:r>
              <a:rPr sz="1800" b="1" i="0">
                <a:solidFill>
                  <a:srgbClr val="37507A"/>
                </a:solidFill>
                <a:latin typeface="Calibri"/>
              </a:rPr>
              <a:t>formal</a:t>
            </a:r>
          </a:p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23204D"/>
                </a:solidFill>
                <a:latin typeface="Calibri"/>
              </a:rPr>
              <a:t>News-wire / stock-footage register. Present tense, third person, every clause an independently checkable fact.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783080"/>
            <a:ext cx="5285232" cy="1965960"/>
          </a:xfrm>
          <a:prstGeom prst="roundRect">
            <a:avLst>
              <a:gd name="adj" fmla="val 9000"/>
            </a:avLst>
          </a:prstGeom>
          <a:solidFill>
            <a:srgbClr val="F3EFFC"/>
          </a:solidFill>
          <a:ln w="15875">
            <a:solidFill>
              <a:srgbClr val="D6C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3640" y="1810512"/>
            <a:ext cx="5285232" cy="1965960"/>
          </a:xfrm>
          <a:prstGeom prst="rect">
            <a:avLst/>
          </a:prstGeom>
          <a:noFill/>
        </p:spPr>
        <p:txBody>
          <a:bodyPr wrap="square" anchor="t" lIns="219456" rIns="219456" tIns="27432" bIns="27432">
            <a:spAutoFit/>
          </a:bodyPr>
          <a:lstStyle/>
          <a:p>
            <a:pPr algn="l">
              <a:spcAft>
                <a:spcPts val="700"/>
              </a:spcAft>
            </a:pPr>
            <a:r>
              <a:rPr sz="1800" b="1" i="0">
                <a:solidFill>
                  <a:srgbClr val="5B3E9E"/>
                </a:solidFill>
                <a:latin typeface="Calibri"/>
              </a:rPr>
              <a:t>sarcastic</a:t>
            </a:r>
          </a:p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23204D"/>
                </a:solidFill>
                <a:latin typeface="Calibri"/>
              </a:rPr>
              <a:t>Deadpan irony aimed at one real thing on screen. The facts stay true; only the attitude bites.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023360"/>
            <a:ext cx="5285232" cy="1965960"/>
          </a:xfrm>
          <a:prstGeom prst="roundRect">
            <a:avLst>
              <a:gd name="adj" fmla="val 9000"/>
            </a:avLst>
          </a:prstGeom>
          <a:solidFill>
            <a:srgbClr val="EAF3FE"/>
          </a:solidFill>
          <a:ln w="15875">
            <a:solidFill>
              <a:srgbClr val="C4D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050792"/>
            <a:ext cx="5285232" cy="1965960"/>
          </a:xfrm>
          <a:prstGeom prst="rect">
            <a:avLst/>
          </a:prstGeom>
          <a:noFill/>
        </p:spPr>
        <p:txBody>
          <a:bodyPr wrap="square" anchor="t" lIns="219456" rIns="219456" tIns="27432" bIns="27432">
            <a:spAutoFit/>
          </a:bodyPr>
          <a:lstStyle/>
          <a:p>
            <a:pPr algn="l">
              <a:spcAft>
                <a:spcPts val="700"/>
              </a:spcAft>
            </a:pPr>
            <a:r>
              <a:rPr sz="1800" b="1" i="0">
                <a:solidFill>
                  <a:srgbClr val="1F5FA5"/>
                </a:solidFill>
                <a:latin typeface="Calibri"/>
              </a:rPr>
              <a:t>humorous_tech</a:t>
            </a:r>
          </a:p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23204D"/>
                </a:solidFill>
                <a:latin typeface="Calibri"/>
              </a:rPr>
              <a:t>One sustained software metaphor — deploys, merge conflicts, latency — mapped onto the actual action.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4023360"/>
            <a:ext cx="5285232" cy="1965960"/>
          </a:xfrm>
          <a:prstGeom prst="roundRect">
            <a:avLst>
              <a:gd name="adj" fmla="val 9000"/>
            </a:avLst>
          </a:prstGeom>
          <a:solidFill>
            <a:srgbClr val="FEF1E6"/>
          </a:solidFill>
          <a:ln w="15875">
            <a:solidFill>
              <a:srgbClr val="F5D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4050792"/>
            <a:ext cx="5285232" cy="1965960"/>
          </a:xfrm>
          <a:prstGeom prst="rect">
            <a:avLst/>
          </a:prstGeom>
          <a:noFill/>
        </p:spPr>
        <p:txBody>
          <a:bodyPr wrap="square" anchor="t" lIns="219456" rIns="219456" tIns="27432" bIns="27432">
            <a:spAutoFit/>
          </a:bodyPr>
          <a:lstStyle/>
          <a:p>
            <a:pPr algn="l">
              <a:spcAft>
                <a:spcPts val="700"/>
              </a:spcAft>
            </a:pPr>
            <a:r>
              <a:rPr sz="1800" b="1" i="0">
                <a:solidFill>
                  <a:srgbClr val="B45E17"/>
                </a:solidFill>
                <a:latin typeface="Calibri"/>
              </a:rPr>
              <a:t>humorous_non_tech</a:t>
            </a:r>
          </a:p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23204D"/>
                </a:solidFill>
                <a:latin typeface="Calibri"/>
              </a:rPr>
              <a:t>Warm everyday comedy: anthropomorphize, exaggerate tiny stakes. A hard ban on any technology word.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300" b="1" i="0">
                <a:solidFill>
                  <a:srgbClr val="4A3F9E"/>
                </a:solidFill>
                <a:latin typeface="Calibri"/>
              </a:rPr>
              <a:t>THE CORE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49808"/>
            <a:ext cx="10881360" cy="7772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3300" b="1" i="0">
                <a:solidFill>
                  <a:srgbClr val="23204D"/>
                </a:solidFill>
                <a:latin typeface="Calibri"/>
              </a:rPr>
              <a:t>Best-of-N + description-grounded selection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91640"/>
            <a:ext cx="3520440" cy="1508760"/>
          </a:xfrm>
          <a:prstGeom prst="roundRect">
            <a:avLst>
              <a:gd name="adj" fmla="val 9000"/>
            </a:avLst>
          </a:prstGeom>
          <a:solidFill>
            <a:srgbClr val="EFEEFB"/>
          </a:solidFill>
          <a:ln w="15875">
            <a:solidFill>
              <a:srgbClr val="D3CE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41247" y="1874519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3C34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856231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3312" y="1847088"/>
            <a:ext cx="2651760" cy="1325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 i="0">
                <a:solidFill>
                  <a:srgbClr val="3C3489"/>
                </a:solidFill>
                <a:latin typeface="Calibri"/>
              </a:rPr>
              <a:t>Draft N candidates</a:t>
            </a:r>
          </a:p>
          <a:p>
            <a:pPr algn="l">
              <a:lnSpc>
                <a:spcPct val="103000"/>
              </a:lnSpc>
            </a:pPr>
            <a:r>
              <a:rPr sz="1150" b="0" i="0">
                <a:solidFill>
                  <a:srgbClr val="6E6A93"/>
                </a:solidFill>
                <a:latin typeface="Calibri"/>
              </a:rPr>
              <a:t>Gemma writes several witty captions at high temperature.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34256" y="1691640"/>
            <a:ext cx="3520440" cy="1508760"/>
          </a:xfrm>
          <a:prstGeom prst="roundRect">
            <a:avLst>
              <a:gd name="adj" fmla="val 9000"/>
            </a:avLst>
          </a:prstGeom>
          <a:solidFill>
            <a:srgbClr val="EFEEFB"/>
          </a:solidFill>
          <a:ln w="15875">
            <a:solidFill>
              <a:srgbClr val="D3CE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35424" y="1874519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3C34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35424" y="1856231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47488" y="1847088"/>
            <a:ext cx="2651760" cy="1325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 i="0">
                <a:solidFill>
                  <a:srgbClr val="3C3489"/>
                </a:solidFill>
                <a:latin typeface="Calibri"/>
              </a:rPr>
              <a:t>Ground the truth</a:t>
            </a:r>
          </a:p>
          <a:p>
            <a:pPr algn="l">
              <a:lnSpc>
                <a:spcPct val="103000"/>
              </a:lnSpc>
            </a:pPr>
            <a:r>
              <a:rPr sz="1150" b="0" i="0">
                <a:solidFill>
                  <a:srgbClr val="6E6A93"/>
                </a:solidFill>
                <a:latin typeface="Calibri"/>
              </a:rPr>
              <a:t>Gemma writes a factual scene description — the source of truth.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28432" y="1691640"/>
            <a:ext cx="3520440" cy="1508760"/>
          </a:xfrm>
          <a:prstGeom prst="roundRect">
            <a:avLst>
              <a:gd name="adj" fmla="val 9000"/>
            </a:avLst>
          </a:prstGeom>
          <a:solidFill>
            <a:srgbClr val="EFEEFB"/>
          </a:solidFill>
          <a:ln w="15875">
            <a:solidFill>
              <a:srgbClr val="D3CE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29600" y="1874519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3C34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1856231"/>
            <a:ext cx="384048" cy="384048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41664" y="1847088"/>
            <a:ext cx="2651760" cy="1325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 i="0">
                <a:solidFill>
                  <a:srgbClr val="3C3489"/>
                </a:solidFill>
                <a:latin typeface="Calibri"/>
              </a:rPr>
              <a:t>Two-criterion pick</a:t>
            </a:r>
          </a:p>
          <a:p>
            <a:pPr algn="l">
              <a:lnSpc>
                <a:spcPct val="103000"/>
              </a:lnSpc>
            </a:pPr>
            <a:r>
              <a:rPr sz="1150" b="0" i="0">
                <a:solidFill>
                  <a:srgbClr val="6E6A93"/>
                </a:solidFill>
                <a:latin typeface="Calibri"/>
              </a:rPr>
              <a:t>Accuracy gate then wit pick: drop hallucinations, keep the boldest.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401568"/>
            <a:ext cx="10881360" cy="3200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400" b="1" i="0">
                <a:solidFill>
                  <a:srgbClr val="23204D"/>
                </a:solidFill>
                <a:latin typeface="Calibri"/>
              </a:rPr>
              <a:t>Live example — </a:t>
            </a:r>
            <a:r>
              <a:rPr sz="1400" b="0" i="0">
                <a:solidFill>
                  <a:srgbClr val="6E6A93"/>
                </a:solidFill>
                <a:latin typeface="Calibri"/>
              </a:rPr>
              <a:t>the accuracy gate catches a hallucination the frames don't support: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794760"/>
            <a:ext cx="10908792" cy="932688"/>
          </a:xfrm>
          <a:prstGeom prst="roundRect">
            <a:avLst>
              <a:gd name="adj" fmla="val 9000"/>
            </a:avLst>
          </a:prstGeom>
          <a:solidFill>
            <a:srgbClr val="FBEEEA"/>
          </a:solidFill>
          <a:ln w="15875">
            <a:solidFill>
              <a:srgbClr val="F0C4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41248" y="4041648"/>
            <a:ext cx="137160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0C4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" y="4023360"/>
            <a:ext cx="1371600" cy="420624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/>
            <a:r>
              <a:rPr sz="1200" b="1" i="0">
                <a:solidFill>
                  <a:srgbClr val="B4402A"/>
                </a:solidFill>
                <a:latin typeface="Calibri"/>
              </a:rPr>
              <a:t>REJECTED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0" y="3794760"/>
            <a:ext cx="9052560" cy="932688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/>
            <a:r>
              <a:rPr sz="1350" b="0" i="0">
                <a:solidFill>
                  <a:srgbClr val="23204D"/>
                </a:solidFill>
                <a:latin typeface="Calibri"/>
              </a:rPr>
              <a:t>“… a collection of cars and a </a:t>
            </a:r>
            <a:r>
              <a:rPr sz="1350" b="1" i="0">
                <a:solidFill>
                  <a:srgbClr val="B4402A"/>
                </a:solidFill>
                <a:latin typeface="Calibri"/>
              </a:rPr>
              <a:t>blue bus</a:t>
            </a:r>
            <a:r>
              <a:rPr sz="1350" b="0" i="0">
                <a:solidFill>
                  <a:srgbClr val="6E6A93"/>
                </a:solidFill>
                <a:latin typeface="Calibri"/>
              </a:rPr>
              <a:t> …”   — the clip shows a red bus.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873752"/>
            <a:ext cx="10908792" cy="932688"/>
          </a:xfrm>
          <a:prstGeom prst="roundRect">
            <a:avLst>
              <a:gd name="adj" fmla="val 9000"/>
            </a:avLst>
          </a:prstGeom>
          <a:solidFill>
            <a:srgbClr val="E9F5EE"/>
          </a:solidFill>
          <a:ln w="15875">
            <a:solidFill>
              <a:srgbClr val="BFE3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41248" y="5120640"/>
            <a:ext cx="137160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FE3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" y="5102352"/>
            <a:ext cx="1371600" cy="420624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/>
            <a:r>
              <a:rPr sz="1200" b="1" i="0">
                <a:solidFill>
                  <a:srgbClr val="1D7A57"/>
                </a:solidFill>
                <a:latin typeface="Calibri"/>
              </a:rPr>
              <a:t>SELECTED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77440" y="4873752"/>
            <a:ext cx="9052560" cy="932688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/>
            <a:r>
              <a:rPr sz="1350" b="0" i="0">
                <a:solidFill>
                  <a:srgbClr val="23204D"/>
                </a:solidFill>
                <a:latin typeface="Calibri"/>
              </a:rPr>
              <a:t>“… a handful of cars… vibrant yellow autumn trees…”   </a:t>
            </a:r>
            <a:r>
              <a:rPr sz="1350" b="0" i="0">
                <a:solidFill>
                  <a:srgbClr val="6E6A93"/>
                </a:solidFill>
                <a:latin typeface="Calibri"/>
              </a:rPr>
              <a:t>— accurate, and still the wittiest draft.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300" b="1" i="0">
                <a:solidFill>
                  <a:srgbClr val="4A3F9E"/>
                </a:solidFill>
                <a:latin typeface="Calibri"/>
              </a:rPr>
              <a:t>SAFETY NET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49808"/>
            <a:ext cx="10881360" cy="7772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3300" b="1" i="0">
                <a:solidFill>
                  <a:srgbClr val="23204D"/>
                </a:solidFill>
                <a:latin typeface="Calibri"/>
              </a:rPr>
              <a:t>Guardrails &amp; reliability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3520440" cy="1783080"/>
          </a:xfrm>
          <a:prstGeom prst="roundRect">
            <a:avLst>
              <a:gd name="adj" fmla="val 9000"/>
            </a:avLst>
          </a:prstGeom>
          <a:solidFill>
            <a:srgbClr val="EFEEFB"/>
          </a:solidFill>
          <a:ln w="15875">
            <a:solidFill>
              <a:srgbClr val="D3CE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01368"/>
            <a:ext cx="3520440" cy="1783080"/>
          </a:xfrm>
          <a:prstGeom prst="rect">
            <a:avLst/>
          </a:prstGeom>
          <a:noFill/>
        </p:spPr>
        <p:txBody>
          <a:bodyPr wrap="square" anchor="t" lIns="182880" rIns="18288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3C3489"/>
                </a:solidFill>
                <a:latin typeface="Calibri"/>
              </a:rPr>
              <a:t>Grounding rules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6E6A93"/>
                </a:solidFill>
                <a:latin typeface="Calibri"/>
              </a:rPr>
              <a:t>Never invent names, brands, counts, or on-screen text.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34256" y="1783080"/>
            <a:ext cx="3520440" cy="1783080"/>
          </a:xfrm>
          <a:prstGeom prst="roundRect">
            <a:avLst>
              <a:gd name="adj" fmla="val 9000"/>
            </a:avLst>
          </a:prstGeom>
          <a:solidFill>
            <a:srgbClr val="EFEEFB"/>
          </a:solidFill>
          <a:ln w="15875">
            <a:solidFill>
              <a:srgbClr val="D3CE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34256" y="1801368"/>
            <a:ext cx="3520440" cy="1783080"/>
          </a:xfrm>
          <a:prstGeom prst="rect">
            <a:avLst/>
          </a:prstGeom>
          <a:noFill/>
        </p:spPr>
        <p:txBody>
          <a:bodyPr wrap="square" anchor="t" lIns="182880" rIns="18288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3C3489"/>
                </a:solidFill>
                <a:latin typeface="Calibri"/>
              </a:rPr>
              <a:t>Non-tech word ban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6E6A93"/>
                </a:solidFill>
                <a:latin typeface="Calibri"/>
              </a:rPr>
              <a:t>Regenerates humorous_non_tech if a tech word slips 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28431" y="1783080"/>
            <a:ext cx="3520440" cy="1783080"/>
          </a:xfrm>
          <a:prstGeom prst="roundRect">
            <a:avLst>
              <a:gd name="adj" fmla="val 9000"/>
            </a:avLst>
          </a:prstGeom>
          <a:solidFill>
            <a:srgbClr val="EFEEFB"/>
          </a:solidFill>
          <a:ln w="15875">
            <a:solidFill>
              <a:srgbClr val="D3CE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28431" y="1801368"/>
            <a:ext cx="3520440" cy="1783080"/>
          </a:xfrm>
          <a:prstGeom prst="rect">
            <a:avLst/>
          </a:prstGeom>
          <a:noFill/>
        </p:spPr>
        <p:txBody>
          <a:bodyPr wrap="square" anchor="t" lIns="182880" rIns="18288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3C3489"/>
                </a:solidFill>
                <a:latin typeface="Calibri"/>
              </a:rPr>
              <a:t>Coherence repair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6E6A93"/>
                </a:solidFill>
                <a:latin typeface="Calibri"/>
              </a:rPr>
              <a:t>Catches high-temp garbling and regenerates once.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794760"/>
            <a:ext cx="3520440" cy="1783080"/>
          </a:xfrm>
          <a:prstGeom prst="roundRect">
            <a:avLst>
              <a:gd name="adj" fmla="val 9000"/>
            </a:avLst>
          </a:prstGeom>
          <a:solidFill>
            <a:srgbClr val="EFEEFB"/>
          </a:solidFill>
          <a:ln w="15875">
            <a:solidFill>
              <a:srgbClr val="D3CE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813048"/>
            <a:ext cx="3520440" cy="1783080"/>
          </a:xfrm>
          <a:prstGeom prst="rect">
            <a:avLst/>
          </a:prstGeom>
          <a:noFill/>
        </p:spPr>
        <p:txBody>
          <a:bodyPr wrap="square" anchor="t" lIns="182880" rIns="18288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3C3489"/>
                </a:solidFill>
                <a:latin typeface="Calibri"/>
              </a:rPr>
              <a:t>Fallback chain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6E6A93"/>
                </a:solidFill>
                <a:latin typeface="Calibri"/>
              </a:rPr>
              <a:t>Gemma to serverless to templates. Output is never empty.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4256" y="3794760"/>
            <a:ext cx="3520440" cy="1783080"/>
          </a:xfrm>
          <a:prstGeom prst="roundRect">
            <a:avLst>
              <a:gd name="adj" fmla="val 9000"/>
            </a:avLst>
          </a:prstGeom>
          <a:solidFill>
            <a:srgbClr val="EFEEFB"/>
          </a:solidFill>
          <a:ln w="15875">
            <a:solidFill>
              <a:srgbClr val="D3CE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34256" y="3813048"/>
            <a:ext cx="3520440" cy="1783080"/>
          </a:xfrm>
          <a:prstGeom prst="rect">
            <a:avLst/>
          </a:prstGeom>
          <a:noFill/>
        </p:spPr>
        <p:txBody>
          <a:bodyPr wrap="square" anchor="t" lIns="182880" rIns="18288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3C3489"/>
                </a:solidFill>
                <a:latin typeface="Calibri"/>
              </a:rPr>
              <a:t>Complete at t=0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6E6A93"/>
                </a:solidFill>
                <a:latin typeface="Calibri"/>
              </a:rPr>
              <a:t>A valid results.json is written up front, then overwritten.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8431" y="3794760"/>
            <a:ext cx="3520440" cy="1783080"/>
          </a:xfrm>
          <a:prstGeom prst="roundRect">
            <a:avLst>
              <a:gd name="adj" fmla="val 9000"/>
            </a:avLst>
          </a:prstGeom>
          <a:solidFill>
            <a:srgbClr val="EFEEFB"/>
          </a:solidFill>
          <a:ln w="15875">
            <a:solidFill>
              <a:srgbClr val="D3CE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28431" y="3813048"/>
            <a:ext cx="3520440" cy="1783080"/>
          </a:xfrm>
          <a:prstGeom prst="rect">
            <a:avLst/>
          </a:prstGeom>
          <a:noFill/>
        </p:spPr>
        <p:txBody>
          <a:bodyPr wrap="square" anchor="t" lIns="182880" rIns="18288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3C3489"/>
                </a:solidFill>
                <a:latin typeface="Calibri"/>
              </a:rPr>
              <a:t>Time watchdog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6E6A93"/>
                </a:solidFill>
                <a:latin typeface="Calibri"/>
              </a:rPr>
              <a:t>Every run stays under the harness time cap.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1E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822960"/>
            <a:ext cx="10881360" cy="3200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300" b="1" i="0">
                <a:solidFill>
                  <a:srgbClr val="E8883C"/>
                </a:solidFill>
                <a:latin typeface="Calibri"/>
              </a:rPr>
              <a:t>BEST USE OF GEMMA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115568"/>
            <a:ext cx="10881360" cy="8229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One model. Four roles.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057400"/>
            <a:ext cx="10515600" cy="5486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600" b="0" i="0">
                <a:solidFill>
                  <a:srgbClr val="C6C1F0"/>
                </a:solidFill>
                <a:latin typeface="Calibri"/>
              </a:rPr>
              <a:t>Every model call in the pipeline is Gemma-4-31B — no other model touches the captions.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108960"/>
            <a:ext cx="2487168" cy="1600200"/>
          </a:xfrm>
          <a:prstGeom prst="roundRect">
            <a:avLst>
              <a:gd name="adj" fmla="val 9000"/>
            </a:avLst>
          </a:prstGeom>
          <a:solidFill>
            <a:srgbClr val="342C72"/>
          </a:solidFill>
          <a:ln w="15875">
            <a:solidFill>
              <a:srgbClr val="4A3F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246120"/>
            <a:ext cx="2487168" cy="1600200"/>
          </a:xfrm>
          <a:prstGeom prst="rect">
            <a:avLst/>
          </a:prstGeom>
          <a:noFill/>
        </p:spPr>
        <p:txBody>
          <a:bodyPr wrap="square" anchor="ctr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Perceive</a:t>
            </a:r>
          </a:p>
          <a:p>
            <a:pPr algn="ctr">
              <a:spcAft>
                <a:spcPts val="800"/>
              </a:spcAft>
            </a:pPr>
            <a:r>
              <a:rPr sz="1150" b="0" i="0">
                <a:solidFill>
                  <a:srgbClr val="9C97CC"/>
                </a:solidFill>
                <a:latin typeface="Calibri"/>
              </a:rPr>
              <a:t>reads the frames</a:t>
            </a:r>
          </a:p>
          <a:p>
            <a:pPr algn="ctr"/>
            <a:r>
              <a:rPr sz="1300" b="1" i="0">
                <a:solidFill>
                  <a:srgbClr val="E8883C"/>
                </a:solidFill>
                <a:latin typeface="Calibri"/>
              </a:rPr>
              <a:t>Gemma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02152" y="3108960"/>
            <a:ext cx="2487168" cy="1600200"/>
          </a:xfrm>
          <a:prstGeom prst="roundRect">
            <a:avLst>
              <a:gd name="adj" fmla="val 9000"/>
            </a:avLst>
          </a:prstGeom>
          <a:solidFill>
            <a:srgbClr val="342C72"/>
          </a:solidFill>
          <a:ln w="15875">
            <a:solidFill>
              <a:srgbClr val="4A3F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02152" y="3246120"/>
            <a:ext cx="2487168" cy="1600200"/>
          </a:xfrm>
          <a:prstGeom prst="rect">
            <a:avLst/>
          </a:prstGeom>
          <a:noFill/>
        </p:spPr>
        <p:txBody>
          <a:bodyPr wrap="square" anchor="ctr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Write</a:t>
            </a:r>
          </a:p>
          <a:p>
            <a:pPr algn="ctr">
              <a:spcAft>
                <a:spcPts val="800"/>
              </a:spcAft>
            </a:pPr>
            <a:r>
              <a:rPr sz="1150" b="0" i="0">
                <a:solidFill>
                  <a:srgbClr val="9C97CC"/>
                </a:solidFill>
                <a:latin typeface="Calibri"/>
              </a:rPr>
              <a:t>drafts every style</a:t>
            </a:r>
          </a:p>
          <a:p>
            <a:pPr algn="ctr"/>
            <a:r>
              <a:rPr sz="1300" b="1" i="0">
                <a:solidFill>
                  <a:srgbClr val="E8883C"/>
                </a:solidFill>
                <a:latin typeface="Calibri"/>
              </a:rPr>
              <a:t>Gemma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3108960"/>
            <a:ext cx="2487168" cy="1600200"/>
          </a:xfrm>
          <a:prstGeom prst="roundRect">
            <a:avLst>
              <a:gd name="adj" fmla="val 9000"/>
            </a:avLst>
          </a:prstGeom>
          <a:solidFill>
            <a:srgbClr val="342C72"/>
          </a:solidFill>
          <a:ln w="15875">
            <a:solidFill>
              <a:srgbClr val="4A3F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81344" y="3246120"/>
            <a:ext cx="2487168" cy="1600200"/>
          </a:xfrm>
          <a:prstGeom prst="rect">
            <a:avLst/>
          </a:prstGeom>
          <a:noFill/>
        </p:spPr>
        <p:txBody>
          <a:bodyPr wrap="square" anchor="ctr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Describe</a:t>
            </a:r>
          </a:p>
          <a:p>
            <a:pPr algn="ctr">
              <a:spcAft>
                <a:spcPts val="800"/>
              </a:spcAft>
            </a:pPr>
            <a:r>
              <a:rPr sz="1150" b="0" i="0">
                <a:solidFill>
                  <a:srgbClr val="9C97CC"/>
                </a:solidFill>
                <a:latin typeface="Calibri"/>
              </a:rPr>
              <a:t>builds the source of truth</a:t>
            </a:r>
          </a:p>
          <a:p>
            <a:pPr algn="ctr"/>
            <a:r>
              <a:rPr sz="1300" b="1" i="0">
                <a:solidFill>
                  <a:srgbClr val="E8883C"/>
                </a:solidFill>
                <a:latin typeface="Calibri"/>
              </a:rPr>
              <a:t>Gemma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60536" y="3108960"/>
            <a:ext cx="2487168" cy="1600200"/>
          </a:xfrm>
          <a:prstGeom prst="roundRect">
            <a:avLst>
              <a:gd name="adj" fmla="val 9000"/>
            </a:avLst>
          </a:prstGeom>
          <a:solidFill>
            <a:srgbClr val="342C72"/>
          </a:solidFill>
          <a:ln w="15875">
            <a:solidFill>
              <a:srgbClr val="4A3F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0536" y="3246120"/>
            <a:ext cx="2487168" cy="1600200"/>
          </a:xfrm>
          <a:prstGeom prst="rect">
            <a:avLst/>
          </a:prstGeom>
          <a:noFill/>
        </p:spPr>
        <p:txBody>
          <a:bodyPr wrap="square" anchor="ctr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Select</a:t>
            </a:r>
          </a:p>
          <a:p>
            <a:pPr algn="ctr">
              <a:spcAft>
                <a:spcPts val="800"/>
              </a:spcAft>
            </a:pPr>
            <a:r>
              <a:rPr sz="1150" b="0" i="0">
                <a:solidFill>
                  <a:srgbClr val="9C97CC"/>
                </a:solidFill>
                <a:latin typeface="Calibri"/>
              </a:rPr>
              <a:t>picks the best caption</a:t>
            </a:r>
          </a:p>
          <a:p>
            <a:pPr algn="ctr"/>
            <a:r>
              <a:rPr sz="1300" b="1" i="0">
                <a:solidFill>
                  <a:srgbClr val="E8883C"/>
                </a:solidFill>
                <a:latin typeface="Calibri"/>
              </a:rPr>
              <a:t>Gemma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166360"/>
            <a:ext cx="10881360" cy="64008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4 roles </a:t>
            </a:r>
            <a:r>
              <a:rPr sz="2200" b="0" i="0">
                <a:solidFill>
                  <a:srgbClr val="9C97CC"/>
                </a:solidFill>
                <a:latin typeface="Calibri"/>
              </a:rPr>
              <a:t>to </a:t>
            </a:r>
            <a:r>
              <a:rPr sz="2200" b="1" i="0">
                <a:solidFill>
                  <a:srgbClr val="E8883C"/>
                </a:solidFill>
                <a:latin typeface="Calibri"/>
              </a:rPr>
              <a:t>1 model </a:t>
            </a:r>
            <a:r>
              <a:rPr sz="1500" b="0" i="0">
                <a:solidFill>
                  <a:srgbClr val="C6C1F0"/>
                </a:solidFill>
                <a:latin typeface="Calibri"/>
              </a:rPr>
              <a:t>— and Gemma writes the final captions, so it stays prize-eligible.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300" b="1" i="0">
                <a:solidFill>
                  <a:srgbClr val="4A3F9E"/>
                </a:solidFill>
                <a:latin typeface="Calibri"/>
              </a:rPr>
              <a:t>ONE CLIP, FOUR VOICES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49808"/>
            <a:ext cx="10881360" cy="7772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3300" b="1" i="0">
                <a:solidFill>
                  <a:srgbClr val="23204D"/>
                </a:solidFill>
                <a:latin typeface="Calibri"/>
              </a:rPr>
              <a:t>Same office scene, four takes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5285232" cy="1993392"/>
          </a:xfrm>
          <a:prstGeom prst="roundRect">
            <a:avLst>
              <a:gd name="adj" fmla="val 9000"/>
            </a:avLst>
          </a:prstGeom>
          <a:solidFill>
            <a:srgbClr val="EEF1F6"/>
          </a:solidFill>
          <a:ln w="15875">
            <a:solidFill>
              <a:srgbClr val="CBD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10512"/>
            <a:ext cx="5285232" cy="1993392"/>
          </a:xfrm>
          <a:prstGeom prst="rect">
            <a:avLst/>
          </a:prstGeom>
          <a:noFill/>
        </p:spPr>
        <p:txBody>
          <a:bodyPr wrap="square" anchor="t" lIns="201168" rIns="201168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 i="0">
                <a:solidFill>
                  <a:srgbClr val="37507A"/>
                </a:solidFill>
                <a:latin typeface="Calibri"/>
              </a:rPr>
              <a:t>formal</a:t>
            </a:r>
          </a:p>
          <a:p>
            <a:pPr algn="l">
              <a:lnSpc>
                <a:spcPct val="105000"/>
              </a:lnSpc>
            </a:pPr>
            <a:r>
              <a:rPr sz="1300" b="0" i="1">
                <a:solidFill>
                  <a:srgbClr val="23204D"/>
                </a:solidFill>
                <a:latin typeface="Calibri"/>
              </a:rPr>
              <a:t>“A woman with dark hair in a high bun sits at a white desk in a modern office, typing on a white keyboard with pink-manicured nails; a potted plant sits behind her.”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783080"/>
            <a:ext cx="5285232" cy="1993392"/>
          </a:xfrm>
          <a:prstGeom prst="roundRect">
            <a:avLst>
              <a:gd name="adj" fmla="val 9000"/>
            </a:avLst>
          </a:prstGeom>
          <a:solidFill>
            <a:srgbClr val="F3EFFC"/>
          </a:solidFill>
          <a:ln w="15875">
            <a:solidFill>
              <a:srgbClr val="D6C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3640" y="1810512"/>
            <a:ext cx="5285232" cy="1993392"/>
          </a:xfrm>
          <a:prstGeom prst="rect">
            <a:avLst/>
          </a:prstGeom>
          <a:noFill/>
        </p:spPr>
        <p:txBody>
          <a:bodyPr wrap="square" anchor="t" lIns="201168" rIns="201168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 i="0">
                <a:solidFill>
                  <a:srgbClr val="5B3E9E"/>
                </a:solidFill>
                <a:latin typeface="Calibri"/>
              </a:rPr>
              <a:t>sarcastic</a:t>
            </a:r>
          </a:p>
          <a:p>
            <a:pPr algn="l">
              <a:lnSpc>
                <a:spcPct val="105000"/>
              </a:lnSpc>
            </a:pPr>
            <a:r>
              <a:rPr sz="1300" b="0" i="1">
                <a:solidFill>
                  <a:srgbClr val="23204D"/>
                </a:solidFill>
                <a:latin typeface="Calibri"/>
              </a:rPr>
              <a:t>“A truly riveting display of human productivity: she engages in a high-stakes staring contest with her monitor, managing the Herculean task of tapping a few keys.”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023360"/>
            <a:ext cx="5285232" cy="1993392"/>
          </a:xfrm>
          <a:prstGeom prst="roundRect">
            <a:avLst>
              <a:gd name="adj" fmla="val 9000"/>
            </a:avLst>
          </a:prstGeom>
          <a:solidFill>
            <a:srgbClr val="EAF3FE"/>
          </a:solidFill>
          <a:ln w="15875">
            <a:solidFill>
              <a:srgbClr val="C4D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050792"/>
            <a:ext cx="5285232" cy="1993392"/>
          </a:xfrm>
          <a:prstGeom prst="rect">
            <a:avLst/>
          </a:prstGeom>
          <a:noFill/>
        </p:spPr>
        <p:txBody>
          <a:bodyPr wrap="square" anchor="t" lIns="201168" rIns="201168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 i="0">
                <a:solidFill>
                  <a:srgbClr val="1F5FA5"/>
                </a:solidFill>
                <a:latin typeface="Calibri"/>
              </a:rPr>
              <a:t>humorous_tech</a:t>
            </a:r>
          </a:p>
          <a:p>
            <a:pPr algn="l">
              <a:lnSpc>
                <a:spcPct val="105000"/>
              </a:lnSpc>
            </a:pPr>
            <a:r>
              <a:rPr sz="1300" b="0" i="1">
                <a:solidFill>
                  <a:srgbClr val="23204D"/>
                </a:solidFill>
                <a:latin typeface="Calibri"/>
              </a:rPr>
              <a:t>“A developer mid production-incident — her face shifts from 'this should work' to 'why is it doing that' as she attempts a hotfix at the keyboard.”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4023360"/>
            <a:ext cx="5285232" cy="1993392"/>
          </a:xfrm>
          <a:prstGeom prst="roundRect">
            <a:avLst>
              <a:gd name="adj" fmla="val 9000"/>
            </a:avLst>
          </a:prstGeom>
          <a:solidFill>
            <a:srgbClr val="FEF1E6"/>
          </a:solidFill>
          <a:ln w="15875">
            <a:solidFill>
              <a:srgbClr val="F5D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4050792"/>
            <a:ext cx="5285232" cy="1993392"/>
          </a:xfrm>
          <a:prstGeom prst="rect">
            <a:avLst/>
          </a:prstGeom>
          <a:noFill/>
        </p:spPr>
        <p:txBody>
          <a:bodyPr wrap="square" anchor="t" lIns="201168" rIns="201168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 i="0">
                <a:solidFill>
                  <a:srgbClr val="B45E17"/>
                </a:solidFill>
                <a:latin typeface="Calibri"/>
              </a:rPr>
              <a:t>humorous_non_tech</a:t>
            </a:r>
          </a:p>
          <a:p>
            <a:pPr algn="l">
              <a:lnSpc>
                <a:spcPct val="105000"/>
              </a:lnSpc>
            </a:pPr>
            <a:r>
              <a:rPr sz="1300" b="0" i="1">
                <a:solidFill>
                  <a:srgbClr val="23204D"/>
                </a:solidFill>
                <a:latin typeface="Calibri"/>
              </a:rPr>
              <a:t>“She stares at her desk with a look of pure, unadulterated betrayal, trying to make sense of whatever is happening in front of her.”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300" b="1" i="0">
                <a:solidFill>
                  <a:srgbClr val="4A3F9E"/>
                </a:solidFill>
                <a:latin typeface="Calibri"/>
              </a:rPr>
              <a:t>SHIP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49808"/>
            <a:ext cx="10881360" cy="7772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3300" b="1" i="0">
                <a:solidFill>
                  <a:srgbClr val="23204D"/>
                </a:solidFill>
                <a:latin typeface="Calibri"/>
              </a:rPr>
              <a:t>One container, two files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83080"/>
            <a:ext cx="5486400" cy="40233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 i="0">
                <a:solidFill>
                  <a:srgbClr val="3C3489"/>
                </a:solidFill>
                <a:latin typeface="Calibri"/>
              </a:rPr>
              <a:t>Single Docker image</a:t>
            </a:r>
            <a:r>
              <a:rPr sz="1400" b="0" i="0">
                <a:solidFill>
                  <a:srgbClr val="6E6A93"/>
                </a:solidFill>
                <a:latin typeface="Calibri"/>
              </a:rPr>
              <a:t>  (linux/amd64), fully self-contained.</a:t>
            </a:r>
          </a:p>
          <a:p>
            <a:pPr algn="l">
              <a:spcAft>
                <a:spcPts val="1000"/>
              </a:spcAft>
            </a:pPr>
            <a:r>
              <a:rPr sz="1400" b="0" i="0">
                <a:solidFill>
                  <a:srgbClr val="23204D"/>
                </a:solidFill>
                <a:latin typeface="Calibri"/>
              </a:rPr>
              <a:t>Reads </a:t>
            </a:r>
            <a:r>
              <a:rPr sz="1350" b="0" i="0">
                <a:solidFill>
                  <a:srgbClr val="3C3489"/>
                </a:solidFill>
                <a:latin typeface="Courier New"/>
              </a:rPr>
              <a:t>/input/tasks.json</a:t>
            </a:r>
            <a:r>
              <a:rPr sz="1400" b="0" i="0">
                <a:solidFill>
                  <a:srgbClr val="23204D"/>
                </a:solidFill>
                <a:latin typeface="Calibri"/>
              </a:rPr>
              <a:t>, writes </a:t>
            </a:r>
            <a:r>
              <a:rPr sz="1350" b="0" i="0">
                <a:solidFill>
                  <a:srgbClr val="3C3489"/>
                </a:solidFill>
                <a:latin typeface="Courier New"/>
              </a:rPr>
              <a:t>/output/results.json</a:t>
            </a:r>
            <a:r>
              <a:rPr sz="1400" b="0" i="0">
                <a:solidFill>
                  <a:srgbClr val="23204D"/>
                </a:solidFill>
                <a:latin typeface="Calibri"/>
              </a:rPr>
              <a:t>.</a:t>
            </a:r>
          </a:p>
          <a:p>
            <a:pPr algn="l">
              <a:spcAft>
                <a:spcPts val="1000"/>
              </a:spcAft>
            </a:pPr>
            <a:r>
              <a:rPr sz="1500" b="1" i="0">
                <a:solidFill>
                  <a:srgbClr val="3C3489"/>
                </a:solidFill>
                <a:latin typeface="Calibri"/>
              </a:rPr>
              <a:t>Downloads each video itself</a:t>
            </a:r>
            <a:r>
              <a:rPr sz="1400" b="0" i="0">
                <a:solidFill>
                  <a:srgbClr val="6E6A93"/>
                </a:solidFill>
                <a:latin typeface="Calibri"/>
              </a:rPr>
              <a:t> and samples frames.</a:t>
            </a:r>
          </a:p>
          <a:p>
            <a:pPr algn="l">
              <a:spcAft>
                <a:spcPts val="1000"/>
              </a:spcAft>
            </a:pPr>
            <a:r>
              <a:rPr sz="1500" b="1" i="0">
                <a:solidFill>
                  <a:srgbClr val="3C3489"/>
                </a:solidFill>
                <a:latin typeface="Calibri"/>
              </a:rPr>
              <a:t>Keys baked at build time</a:t>
            </a:r>
            <a:r>
              <a:rPr sz="1400" b="0" i="0">
                <a:solidFill>
                  <a:srgbClr val="6E6A93"/>
                </a:solidFill>
                <a:latin typeface="Calibri"/>
              </a:rPr>
              <a:t> — the judge injects nothing.</a:t>
            </a:r>
          </a:p>
          <a:p>
            <a:pPr algn="l"/>
            <a:r>
              <a:rPr sz="1500" b="1" i="0">
                <a:solidFill>
                  <a:srgbClr val="3C3489"/>
                </a:solidFill>
                <a:latin typeface="Calibri"/>
              </a:rPr>
              <a:t>Always complete</a:t>
            </a:r>
            <a:r>
              <a:rPr sz="1400" b="0" i="0">
                <a:solidFill>
                  <a:srgbClr val="6E6A93"/>
                </a:solidFill>
                <a:latin typeface="Calibri"/>
              </a:rPr>
              <a:t> — a caption for every style, every task.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46520" y="1783080"/>
            <a:ext cx="5120640" cy="3977639"/>
          </a:xfrm>
          <a:prstGeom prst="roundRect">
            <a:avLst>
              <a:gd name="adj" fmla="val 5000"/>
            </a:avLst>
          </a:prstGeom>
          <a:solidFill>
            <a:srgbClr val="2A2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46520" y="1874519"/>
            <a:ext cx="5120640" cy="3977639"/>
          </a:xfrm>
          <a:prstGeom prst="rect">
            <a:avLst/>
          </a:prstGeom>
          <a:noFill/>
        </p:spPr>
        <p:txBody>
          <a:bodyPr wrap="square" anchor="t" lIns="201168" rIns="201168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9C97CC"/>
                </a:solidFill>
                <a:latin typeface="Courier New"/>
              </a:rPr>
              <a:t># input  /input/tasks.json</a:t>
            </a:r>
          </a:p>
          <a:p>
            <a:pPr algn="l"/>
            <a:r>
              <a:rPr sz="1200" b="0" i="0">
                <a:solidFill>
                  <a:srgbClr val="C6C1F0"/>
                </a:solidFill>
                <a:latin typeface="Courier New"/>
              </a:rPr>
              <a:t>[{ "task_id": "clip-001",</a:t>
            </a:r>
          </a:p>
          <a:p>
            <a:pPr algn="l"/>
            <a:r>
              <a:rPr sz="1200" b="0" i="0">
                <a:solidFill>
                  <a:srgbClr val="C6C1F0"/>
                </a:solidFill>
                <a:latin typeface="Courier New"/>
              </a:rPr>
              <a:t>   "video_url": "https://...",</a:t>
            </a:r>
          </a:p>
          <a:p>
            <a:pPr algn="l">
              <a:spcAft>
                <a:spcPts val="1200"/>
              </a:spcAft>
            </a:pPr>
            <a:r>
              <a:rPr sz="1200" b="0" i="0">
                <a:solidFill>
                  <a:srgbClr val="C6C1F0"/>
                </a:solidFill>
                <a:latin typeface="Courier New"/>
              </a:rPr>
              <a:t>   "styles": ["formal", ...] }]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9C97CC"/>
                </a:solidFill>
                <a:latin typeface="Courier New"/>
              </a:rPr>
              <a:t># output  /output/results.json</a:t>
            </a:r>
          </a:p>
          <a:p>
            <a:pPr algn="l"/>
            <a:r>
              <a:rPr sz="1200" b="0" i="0">
                <a:solidFill>
                  <a:srgbClr val="FFFFFF"/>
                </a:solidFill>
                <a:latin typeface="Courier New"/>
              </a:rPr>
              <a:t>[{ "task_id": "clip-001",</a:t>
            </a:r>
          </a:p>
          <a:p>
            <a:pPr algn="l"/>
            <a:r>
              <a:rPr sz="1200" b="0" i="0">
                <a:solidFill>
                  <a:srgbClr val="FFFFFF"/>
                </a:solidFill>
                <a:latin typeface="Courier New"/>
              </a:rPr>
              <a:t>   "captions": {</a:t>
            </a:r>
          </a:p>
          <a:p>
            <a:pPr algn="l"/>
            <a:r>
              <a:rPr sz="1200" b="0" i="0">
                <a:solidFill>
                  <a:srgbClr val="9FE1CB"/>
                </a:solidFill>
                <a:latin typeface="Courier New"/>
              </a:rPr>
              <a:t>     "formal": "...",</a:t>
            </a:r>
          </a:p>
          <a:p>
            <a:pPr algn="l"/>
            <a:r>
              <a:rPr sz="1200" b="0" i="0">
                <a:solidFill>
                  <a:srgbClr val="D6C9F2"/>
                </a:solidFill>
                <a:latin typeface="Courier New"/>
              </a:rPr>
              <a:t>     "sarcastic": "...",</a:t>
            </a:r>
          </a:p>
          <a:p>
            <a:pPr algn="l"/>
            <a:r>
              <a:rPr sz="1200" b="0" i="0">
                <a:solidFill>
                  <a:srgbClr val="B5D4F4"/>
                </a:solidFill>
                <a:latin typeface="Courier New"/>
              </a:rPr>
              <a:t>     "humorous_tech": "...",</a:t>
            </a:r>
          </a:p>
          <a:p>
            <a:pPr algn="l"/>
            <a:r>
              <a:rPr sz="1200" b="0" i="0">
                <a:solidFill>
                  <a:srgbClr val="F5C4B3"/>
                </a:solidFill>
                <a:latin typeface="Courier New"/>
              </a:rPr>
              <a:t>     "humorous_non_tech": "..." }}]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1E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57400"/>
            <a:ext cx="10698480" cy="10972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Calibri"/>
              </a:rPr>
              <a:t>GemmaCaption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8096" y="3200400"/>
            <a:ext cx="10698480" cy="5486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2100" b="0" i="1">
                <a:solidFill>
                  <a:srgbClr val="C6C1F0"/>
                </a:solidFill>
                <a:latin typeface="Calibri"/>
              </a:rPr>
              <a:t>Four voices. One model. Zero hallucinated buses.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4206240"/>
            <a:ext cx="1234440" cy="402336"/>
          </a:xfrm>
          <a:prstGeom prst="roundRect">
            <a:avLst>
              <a:gd name="adj" fmla="val 50000"/>
            </a:avLst>
          </a:prstGeom>
          <a:solidFill>
            <a:srgbClr val="EEF1F6"/>
          </a:solidFill>
          <a:ln w="12700">
            <a:solidFill>
              <a:srgbClr val="CBD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187952"/>
            <a:ext cx="1234440" cy="402336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/>
            <a:r>
              <a:rPr sz="1250" b="1" i="0">
                <a:solidFill>
                  <a:srgbClr val="37507A"/>
                </a:solidFill>
                <a:latin typeface="Calibri"/>
              </a:rPr>
              <a:t>formal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21992" y="4206240"/>
            <a:ext cx="1554480" cy="402336"/>
          </a:xfrm>
          <a:prstGeom prst="roundRect">
            <a:avLst>
              <a:gd name="adj" fmla="val 50000"/>
            </a:avLst>
          </a:prstGeom>
          <a:solidFill>
            <a:srgbClr val="F3EFFC"/>
          </a:solidFill>
          <a:ln w="12700">
            <a:solidFill>
              <a:srgbClr val="D6C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21992" y="4187952"/>
            <a:ext cx="1554480" cy="402336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/>
            <a:r>
              <a:rPr sz="1250" b="1" i="0">
                <a:solidFill>
                  <a:srgbClr val="5B3E9E"/>
                </a:solidFill>
                <a:latin typeface="Calibri"/>
              </a:rPr>
              <a:t>sarcastic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32504" y="4206240"/>
            <a:ext cx="2148840" cy="402336"/>
          </a:xfrm>
          <a:prstGeom prst="roundRect">
            <a:avLst>
              <a:gd name="adj" fmla="val 50000"/>
            </a:avLst>
          </a:prstGeom>
          <a:solidFill>
            <a:srgbClr val="EAF3FE"/>
          </a:solidFill>
          <a:ln w="12700">
            <a:solidFill>
              <a:srgbClr val="C4D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32504" y="4187952"/>
            <a:ext cx="2148840" cy="402336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/>
            <a:r>
              <a:rPr sz="1250" b="1" i="0">
                <a:solidFill>
                  <a:srgbClr val="1F5FA5"/>
                </a:solidFill>
                <a:latin typeface="Calibri"/>
              </a:rPr>
              <a:t>humorous_tech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37376" y="4206240"/>
            <a:ext cx="2697480" cy="402336"/>
          </a:xfrm>
          <a:prstGeom prst="roundRect">
            <a:avLst>
              <a:gd name="adj" fmla="val 50000"/>
            </a:avLst>
          </a:prstGeom>
          <a:solidFill>
            <a:srgbClr val="FEF1E6"/>
          </a:solidFill>
          <a:ln w="12700">
            <a:solidFill>
              <a:srgbClr val="F5D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37376" y="4187952"/>
            <a:ext cx="2697480" cy="402336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/>
            <a:r>
              <a:rPr sz="1250" b="1" i="0">
                <a:solidFill>
                  <a:srgbClr val="B45E17"/>
                </a:solidFill>
                <a:latin typeface="Calibri"/>
              </a:rPr>
              <a:t>humorous_non_tech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5577840"/>
            <a:ext cx="10698480" cy="4572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Thank you</a:t>
            </a:r>
            <a:r>
              <a:rPr sz="1500" b="0" i="0">
                <a:solidFill>
                  <a:srgbClr val="9C97CC"/>
                </a:solidFill>
                <a:latin typeface="Calibri"/>
              </a:rPr>
              <a:t>   ·   AMD Hackathon Track 2   ·   Best Use of Gemma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